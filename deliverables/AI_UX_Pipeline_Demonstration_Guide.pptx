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179422-0A96-40F9-96B6-612A609A4095}" v="7" dt="2026-08-08T16:51:12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-398" y="-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eyan S" userId="a4732f1a38b87db9" providerId="LiveId" clId="{80550256-044A-4469-BE78-DB2D0F5E3931}"/>
    <pc:docChg chg="modSld">
      <pc:chgData name="Karthikeyan S" userId="a4732f1a38b87db9" providerId="LiveId" clId="{80550256-044A-4469-BE78-DB2D0F5E3931}" dt="2026-08-09T06:30:20.691" v="30" actId="20577"/>
      <pc:docMkLst>
        <pc:docMk/>
      </pc:docMkLst>
      <pc:sldChg chg="modSp mod">
        <pc:chgData name="Karthikeyan S" userId="a4732f1a38b87db9" providerId="LiveId" clId="{80550256-044A-4469-BE78-DB2D0F5E3931}" dt="2026-08-09T06:30:20.691" v="30" actId="20577"/>
        <pc:sldMkLst>
          <pc:docMk/>
          <pc:sldMk cId="1190039912" sldId="256"/>
        </pc:sldMkLst>
        <pc:spChg chg="mod">
          <ac:chgData name="Karthikeyan S" userId="a4732f1a38b87db9" providerId="LiveId" clId="{80550256-044A-4469-BE78-DB2D0F5E3931}" dt="2026-08-09T06:30:20.691" v="30" actId="20577"/>
          <ac:spMkLst>
            <pc:docMk/>
            <pc:sldMk cId="1190039912" sldId="256"/>
            <ac:spMk id="5" creationId="{6EFBB05B-9A2D-4B30-A913-7A288FEA08AA}"/>
          </ac:spMkLst>
        </pc:spChg>
        <pc:spChg chg="mod">
          <ac:chgData name="Karthikeyan S" userId="a4732f1a38b87db9" providerId="LiveId" clId="{80550256-044A-4469-BE78-DB2D0F5E3931}" dt="2026-08-08T16:51:11.414" v="3" actId="20577"/>
          <ac:spMkLst>
            <pc:docMk/>
            <pc:sldMk cId="1190039912" sldId="256"/>
            <ac:spMk id="8" creationId="{D48BA056-2436-40E6-AD78-0C0A03E03D14}"/>
          </ac:spMkLst>
        </pc:spChg>
        <pc:spChg chg="mod">
          <ac:chgData name="Karthikeyan S" userId="a4732f1a38b87db9" providerId="LiveId" clId="{80550256-044A-4469-BE78-DB2D0F5E3931}" dt="2026-08-09T03:51:37.877" v="5" actId="1036"/>
          <ac:spMkLst>
            <pc:docMk/>
            <pc:sldMk cId="1190039912" sldId="256"/>
            <ac:spMk id="13" creationId="{312159E6-8514-4D97-820E-2EC1F3C5A80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2159E6-8514-4D97-820E-2EC1F3C5A806}"/>
              </a:ext>
            </a:extLst>
          </p:cNvPr>
          <p:cNvSpPr>
            <a:spLocks noGrp="1"/>
          </p:cNvSpPr>
          <p:nvPr/>
        </p:nvSpPr>
        <p:spPr>
          <a:xfrm>
            <a:off x="0" y="19664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56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497743-9F4B-4A03-B30F-38D962111749}"/>
              </a:ext>
            </a:extLst>
          </p:cNvPr>
          <p:cNvSpPr>
            <a:spLocks noGrp="1"/>
          </p:cNvSpPr>
          <p:nvPr/>
        </p:nvSpPr>
        <p:spPr>
          <a:xfrm>
            <a:off x="8477250" y="0"/>
            <a:ext cx="3714750" cy="6858000"/>
          </a:xfrm>
          <a:prstGeom prst="rect">
            <a:avLst/>
          </a:prstGeom>
          <a:solidFill>
            <a:srgbClr val="079A92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1F0BDC-669E-44F0-913C-958878B3CB1E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7C5BB"/>
                </a:solidFill>
              </a:defRPr>
            </a:pPr>
            <a:r>
              <a:rPr sz="1350" b="1">
                <a:solidFill>
                  <a:srgbClr val="27C5BB"/>
                </a:solidFill>
              </a:rPr>
              <a:t>AI UX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072312-0E26-42E6-BA80-BD027CD7607F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72390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Discovery-to-Prototype</a:t>
            </a:r>
          </a:p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FBB05B-9A2D-4B30-A913-7A288FEA08AA}"/>
              </a:ext>
            </a:extLst>
          </p:cNvPr>
          <p:cNvSpPr>
            <a:spLocks noGrp="1"/>
          </p:cNvSpPr>
          <p:nvPr/>
        </p:nvSpPr>
        <p:spPr>
          <a:xfrm>
            <a:off x="666750" y="3105150"/>
            <a:ext cx="6572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7E9F8"/>
                </a:solidFill>
              </a:defRPr>
            </a:pPr>
            <a:r>
              <a:rPr sz="1800" b="0" dirty="0">
                <a:solidFill>
                  <a:srgbClr val="D7E9F8"/>
                </a:solidFill>
              </a:rPr>
              <a:t>A governed multi-agent process that turns a </a:t>
            </a:r>
            <a:r>
              <a:rPr lang="en-IN" sz="1800" b="0">
                <a:solidFill>
                  <a:srgbClr val="D7E9F8"/>
                </a:solidFill>
              </a:rPr>
              <a:t>Users documents</a:t>
            </a:r>
            <a:r>
              <a:rPr sz="1800" b="0">
                <a:solidFill>
                  <a:srgbClr val="D7E9F8"/>
                </a:solidFill>
              </a:rPr>
              <a:t> </a:t>
            </a:r>
            <a:r>
              <a:rPr sz="1800" b="0" dirty="0">
                <a:solidFill>
                  <a:srgbClr val="D7E9F8"/>
                </a:solidFill>
              </a:rPr>
              <a:t>into a human-verified workable prototype.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978B5-A258-4FD7-9408-0DA37749E34B}"/>
              </a:ext>
            </a:extLst>
          </p:cNvPr>
          <p:cNvSpPr>
            <a:spLocks noGrp="1"/>
          </p:cNvSpPr>
          <p:nvPr/>
        </p:nvSpPr>
        <p:spPr>
          <a:xfrm>
            <a:off x="666750" y="4238625"/>
            <a:ext cx="2000250" cy="66675"/>
          </a:xfrm>
          <a:prstGeom prst="rect">
            <a:avLst/>
          </a:prstGeom>
          <a:solidFill>
            <a:srgbClr val="27C5BB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92462-C78B-4974-B837-E1DE2A50B631}"/>
              </a:ext>
            </a:extLst>
          </p:cNvPr>
          <p:cNvSpPr>
            <a:spLocks noGrp="1"/>
          </p:cNvSpPr>
          <p:nvPr/>
        </p:nvSpPr>
        <p:spPr>
          <a:xfrm>
            <a:off x="666750" y="45339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7C5BB"/>
                </a:solidFill>
              </a:defRPr>
            </a:pPr>
            <a:r>
              <a:rPr sz="1200" b="1">
                <a:solidFill>
                  <a:srgbClr val="27C5BB"/>
                </a:solidFill>
              </a:rPr>
              <a:t>RUNNABLE PUBLIC DEMO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8BA056-2436-40E6-AD78-0C0A03E03D14}"/>
              </a:ext>
            </a:extLst>
          </p:cNvPr>
          <p:cNvSpPr>
            <a:spLocks noGrp="1"/>
          </p:cNvSpPr>
          <p:nvPr/>
        </p:nvSpPr>
        <p:spPr>
          <a:xfrm>
            <a:off x="666750" y="4895850"/>
            <a:ext cx="571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FFFFF"/>
                </a:solidFill>
              </a:defRPr>
            </a:pPr>
            <a:r>
              <a:rPr lang="en-IN" sz="1575" b="1" dirty="0">
                <a:solidFill>
                  <a:srgbClr val="FFFFFF"/>
                </a:solidFill>
              </a:rPr>
              <a:t>https://ai-ux-design-pipeline.streamlit.app/</a:t>
            </a:r>
          </a:p>
          <a:p>
            <a:pPr>
              <a:defRPr sz="1575" b="1">
                <a:solidFill>
                  <a:srgbClr val="FFFFFF"/>
                </a:solidFill>
              </a:defRPr>
            </a:pPr>
            <a:endParaRPr sz="1575" b="1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ED90E-316C-402C-8F92-DF732D71474A}"/>
              </a:ext>
            </a:extLst>
          </p:cNvPr>
          <p:cNvSpPr>
            <a:spLocks noGrp="1"/>
          </p:cNvSpPr>
          <p:nvPr/>
        </p:nvSpPr>
        <p:spPr>
          <a:xfrm>
            <a:off x="9096375" y="1428750"/>
            <a:ext cx="1524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F8CFD7-C8A0-49E6-A392-B7AFB7EFE3A0}"/>
              </a:ext>
            </a:extLst>
          </p:cNvPr>
          <p:cNvSpPr>
            <a:spLocks noGrp="1"/>
          </p:cNvSpPr>
          <p:nvPr/>
        </p:nvSpPr>
        <p:spPr>
          <a:xfrm>
            <a:off x="8858250" y="2552700"/>
            <a:ext cx="200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specialized phase agents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349A40-0740-401E-AB5A-C3B33402BB3C}"/>
              </a:ext>
            </a:extLst>
          </p:cNvPr>
          <p:cNvSpPr>
            <a:spLocks noGrp="1"/>
          </p:cNvSpPr>
          <p:nvPr/>
        </p:nvSpPr>
        <p:spPr>
          <a:xfrm>
            <a:off x="9096375" y="3924300"/>
            <a:ext cx="1524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D7FFF8"/>
                </a:solidFill>
              </a:defRPr>
            </a:pPr>
            <a:r>
              <a:rPr sz="3600" b="1">
                <a:solidFill>
                  <a:srgbClr val="D7FFF8"/>
                </a:solidFill>
              </a:rPr>
              <a:t>D1–D4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7BEA9A-1108-48D3-AC34-C8AAB20798C2}"/>
              </a:ext>
            </a:extLst>
          </p:cNvPr>
          <p:cNvSpPr>
            <a:spLocks noGrp="1"/>
          </p:cNvSpPr>
          <p:nvPr/>
        </p:nvSpPr>
        <p:spPr>
          <a:xfrm>
            <a:off x="8858250" y="4572000"/>
            <a:ext cx="200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explicit human gates</a:t>
            </a:r>
          </a:p>
        </p:txBody>
      </p:sp>
    </p:spTree>
    <p:extLst>
      <p:ext uri="{BB962C8B-B14F-4D97-AF65-F5344CB8AC3E}">
        <p14:creationId xmlns:p14="http://schemas.microsoft.com/office/powerpoint/2010/main" val="1190039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696DEB-53A4-4227-A6DA-62F67DEE401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79A92"/>
                </a:solidFill>
              </a:defRPr>
            </a:pPr>
            <a:r>
              <a:rPr sz="1125" b="1">
                <a:solidFill>
                  <a:srgbClr val="079A92"/>
                </a:solidFill>
              </a:rPr>
              <a:t>THE DIFFERENTIATOR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2A4265-7FB9-4DC5-9A67-67424E9E98F1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Specialized agents own the work; the orchestrator only routes 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A3B4A6-07A6-43B0-8295-D123DC959B93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7287"/>
                </a:solidFill>
              </a:defRPr>
            </a:pPr>
            <a:r>
              <a:rPr sz="1350" b="0">
                <a:solidFill>
                  <a:srgbClr val="5F7287"/>
                </a:solidFill>
              </a:rPr>
              <a:t>Each agent invokes reusable skills and hands traceable artifacts to the next governed stage.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F60985-6832-4735-9268-5B447F3466F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876300" cy="47625"/>
          </a:xfrm>
          <a:prstGeom prst="rect">
            <a:avLst/>
          </a:prstGeom>
          <a:solidFill>
            <a:srgbClr val="27C5BB"/>
          </a:solidFill>
          <a:ln w="0">
            <a:noFill/>
            <a:prstDash val="solid"/>
          </a:ln>
        </p:spPr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67025" y="1905000"/>
            <a:ext cx="6457950" cy="4305300"/>
          </a:xfrm>
          <a:prstGeom prst="roundRect">
            <a:avLst>
              <a:gd name="adj" fmla="val 177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CCBF119-2ABC-4F04-B647-099BB786ED5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790A8"/>
                </a:solidFill>
              </a:defRPr>
            </a:pPr>
            <a:r>
              <a:rPr sz="900" b="1">
                <a:solidFill>
                  <a:srgbClr val="7790A8"/>
                </a:solidFill>
              </a:rPr>
              <a:t>AI UX DESIGN PIPELINE  •  02</a:t>
            </a:r>
          </a:p>
        </p:txBody>
      </p:sp>
    </p:spTree>
    <p:extLst>
      <p:ext uri="{BB962C8B-B14F-4D97-AF65-F5344CB8AC3E}">
        <p14:creationId xmlns:p14="http://schemas.microsoft.com/office/powerpoint/2010/main" val="2050950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A80FFE1-5D78-4363-96E1-EAC72399A2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79A92"/>
                </a:solidFill>
              </a:defRPr>
            </a:pPr>
            <a:r>
              <a:rPr sz="1125" b="1">
                <a:solidFill>
                  <a:srgbClr val="079A92"/>
                </a:solidFill>
              </a:rPr>
              <a:t>RUNNABLE EXPERIENCE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838954-A46B-42D4-8648-415EBBF973E8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The public runner makes the architecture visible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F8889-3A64-435A-AD01-BFFE32FCB909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7287"/>
                </a:solidFill>
              </a:defRPr>
            </a:pPr>
            <a:r>
              <a:rPr sz="1350" b="0">
                <a:solidFill>
                  <a:srgbClr val="5F7287"/>
                </a:solidFill>
              </a:rPr>
              <a:t>Demo mode uses predefined synthetic inputs; Live AI can be protected and configured separately.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A6AE29-964C-41FC-AD9E-07631A1F711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876300" cy="47625"/>
          </a:xfrm>
          <a:prstGeom prst="rect">
            <a:avLst/>
          </a:prstGeom>
          <a:solidFill>
            <a:srgbClr val="27C5BB"/>
          </a:solidFill>
          <a:ln w="0">
            <a:noFill/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3467" y="1981200"/>
            <a:ext cx="7552267" cy="4248150"/>
          </a:xfrm>
          <a:prstGeom prst="roundRect">
            <a:avLst>
              <a:gd name="adj" fmla="val 2691"/>
            </a:avLst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A8834E-2770-4D88-9471-F0D431AD60A6}"/>
              </a:ext>
            </a:extLst>
          </p:cNvPr>
          <p:cNvSpPr>
            <a:spLocks noGrp="1"/>
          </p:cNvSpPr>
          <p:nvPr/>
        </p:nvSpPr>
        <p:spPr>
          <a:xfrm>
            <a:off x="8667750" y="2095500"/>
            <a:ext cx="2914650" cy="1066800"/>
          </a:xfrm>
          <a:prstGeom prst="roundRect">
            <a:avLst>
              <a:gd name="adj" fmla="val 10714"/>
            </a:avLst>
          </a:prstGeom>
          <a:solidFill>
            <a:srgbClr val="0B356A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1DE0D2-CAF6-4229-8A90-2AA4FC959BA1}"/>
              </a:ext>
            </a:extLst>
          </p:cNvPr>
          <p:cNvSpPr>
            <a:spLocks noGrp="1"/>
          </p:cNvSpPr>
          <p:nvPr/>
        </p:nvSpPr>
        <p:spPr>
          <a:xfrm>
            <a:off x="8877300" y="2266950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7C5BB"/>
                </a:solidFill>
              </a:defRPr>
            </a:pPr>
            <a:r>
              <a:rPr sz="2100" b="1">
                <a:solidFill>
                  <a:srgbClr val="27C5BB"/>
                </a:solidFill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338F55-19AC-491C-BFA3-A9F7033E4BAD}"/>
              </a:ext>
            </a:extLst>
          </p:cNvPr>
          <p:cNvSpPr>
            <a:spLocks noGrp="1"/>
          </p:cNvSpPr>
          <p:nvPr/>
        </p:nvSpPr>
        <p:spPr>
          <a:xfrm>
            <a:off x="9458325" y="2266950"/>
            <a:ext cx="188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Mode is always visible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8D4BE7-22E0-4F3C-B4AF-461806868CA3}"/>
              </a:ext>
            </a:extLst>
          </p:cNvPr>
          <p:cNvSpPr>
            <a:spLocks noGrp="1"/>
          </p:cNvSpPr>
          <p:nvPr/>
        </p:nvSpPr>
        <p:spPr>
          <a:xfrm>
            <a:off x="8877300" y="2705100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D5E7F8"/>
                </a:solidFill>
              </a:defRPr>
            </a:pPr>
            <a:r>
              <a:rPr sz="1125" b="0">
                <a:solidFill>
                  <a:srgbClr val="D5E7F8"/>
                </a:solidFill>
              </a:rPr>
              <a:t>DEMO avoids token use; LIVE exposes secured runner controls.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656885-9561-4B21-B738-A5495ACAC791}"/>
              </a:ext>
            </a:extLst>
          </p:cNvPr>
          <p:cNvSpPr>
            <a:spLocks noGrp="1"/>
          </p:cNvSpPr>
          <p:nvPr/>
        </p:nvSpPr>
        <p:spPr>
          <a:xfrm>
            <a:off x="8667750" y="3333750"/>
            <a:ext cx="29146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7D9E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18FF1A-5C75-4F8A-A12A-66C3848B34AE}"/>
              </a:ext>
            </a:extLst>
          </p:cNvPr>
          <p:cNvSpPr>
            <a:spLocks noGrp="1"/>
          </p:cNvSpPr>
          <p:nvPr/>
        </p:nvSpPr>
        <p:spPr>
          <a:xfrm>
            <a:off x="8877300" y="3505200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9A92"/>
                </a:solidFill>
              </a:defRPr>
            </a:pPr>
            <a:r>
              <a:rPr sz="2100" b="1">
                <a:solidFill>
                  <a:srgbClr val="079A92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94B313-04A5-46D3-A5D7-FEF24AF5547E}"/>
              </a:ext>
            </a:extLst>
          </p:cNvPr>
          <p:cNvSpPr>
            <a:spLocks noGrp="1"/>
          </p:cNvSpPr>
          <p:nvPr/>
        </p:nvSpPr>
        <p:spPr>
          <a:xfrm>
            <a:off x="9458325" y="3505200"/>
            <a:ext cx="188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Phases stay in 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2FDC50-FCA7-404C-B921-0D1A945BF714}"/>
              </a:ext>
            </a:extLst>
          </p:cNvPr>
          <p:cNvSpPr>
            <a:spLocks noGrp="1"/>
          </p:cNvSpPr>
          <p:nvPr/>
        </p:nvSpPr>
        <p:spPr>
          <a:xfrm>
            <a:off x="8877300" y="3943350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7287"/>
                </a:solidFill>
              </a:defRPr>
            </a:pPr>
            <a:r>
              <a:rPr sz="1125" b="0">
                <a:solidFill>
                  <a:srgbClr val="5F7287"/>
                </a:solidFill>
              </a:rPr>
              <a:t>The vertical rail shows agent ownership and gate state.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A9BD58-6AC7-4624-A066-A338F5C7649A}"/>
              </a:ext>
            </a:extLst>
          </p:cNvPr>
          <p:cNvSpPr>
            <a:spLocks noGrp="1"/>
          </p:cNvSpPr>
          <p:nvPr/>
        </p:nvSpPr>
        <p:spPr>
          <a:xfrm>
            <a:off x="8667750" y="4572000"/>
            <a:ext cx="29146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7D9E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7FB70-3CEB-4820-9BEB-446E79A95474}"/>
              </a:ext>
            </a:extLst>
          </p:cNvPr>
          <p:cNvSpPr>
            <a:spLocks noGrp="1"/>
          </p:cNvSpPr>
          <p:nvPr/>
        </p:nvSpPr>
        <p:spPr>
          <a:xfrm>
            <a:off x="8877300" y="4743450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9A92"/>
                </a:solidFill>
              </a:defRPr>
            </a:pPr>
            <a:r>
              <a:rPr sz="2100" b="1">
                <a:solidFill>
                  <a:srgbClr val="079A92"/>
                </a:solidFill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C5FB9D-3EA4-4152-A564-646E4CAFE127}"/>
              </a:ext>
            </a:extLst>
          </p:cNvPr>
          <p:cNvSpPr>
            <a:spLocks noGrp="1"/>
          </p:cNvSpPr>
          <p:nvPr/>
        </p:nvSpPr>
        <p:spPr>
          <a:xfrm>
            <a:off x="9458325" y="4743450"/>
            <a:ext cx="188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Skills are explicit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47CED8-009F-48AD-854F-44F3656FB02D}"/>
              </a:ext>
            </a:extLst>
          </p:cNvPr>
          <p:cNvSpPr>
            <a:spLocks noGrp="1"/>
          </p:cNvSpPr>
          <p:nvPr/>
        </p:nvSpPr>
        <p:spPr>
          <a:xfrm>
            <a:off x="8877300" y="5181600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F7287"/>
                </a:solidFill>
              </a:defRPr>
            </a:pPr>
            <a:r>
              <a:rPr sz="1125" b="0">
                <a:solidFill>
                  <a:srgbClr val="5F7287"/>
                </a:solidFill>
              </a:rPr>
              <a:t>The declared sequence is visible before execution begins.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5BB1C6-857F-47A3-887E-A61AD52A459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790A8"/>
                </a:solidFill>
              </a:defRPr>
            </a:pPr>
            <a:r>
              <a:rPr sz="900" b="1">
                <a:solidFill>
                  <a:srgbClr val="7790A8"/>
                </a:solidFill>
              </a:rPr>
              <a:t>AI UX DESIGN PIPELINE  •  03</a:t>
            </a:r>
          </a:p>
        </p:txBody>
      </p:sp>
    </p:spTree>
    <p:extLst>
      <p:ext uri="{BB962C8B-B14F-4D97-AF65-F5344CB8AC3E}">
        <p14:creationId xmlns:p14="http://schemas.microsoft.com/office/powerpoint/2010/main" val="52896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BF7453C-2A90-428F-8F88-EBD0A664964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79A92"/>
                </a:solidFill>
              </a:defRPr>
            </a:pPr>
            <a:r>
              <a:rPr sz="1125" b="1">
                <a:solidFill>
                  <a:srgbClr val="079A92"/>
                </a:solidFill>
              </a:rPr>
              <a:t>EXECUTION FEELS REAL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B2780D-9176-4B58-A889-C330A1140469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Progress exposes the active agent and skill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87E93A-EB19-46D2-BC02-0F5A25F178AB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7287"/>
                </a:solidFill>
              </a:defRPr>
            </a:pPr>
            <a:r>
              <a:rPr sz="1350" b="0">
                <a:solidFill>
                  <a:srgbClr val="5F7287"/>
                </a:solidFill>
              </a:rPr>
              <a:t>The runner shows movement without pretending synthetic demo outputs are real research.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3B3347-1580-4974-81AC-E598B6B344C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876300" cy="47625"/>
          </a:xfrm>
          <a:prstGeom prst="rect">
            <a:avLst/>
          </a:prstGeom>
          <a:solidFill>
            <a:srgbClr val="27C5BB"/>
          </a:solidFill>
          <a:ln w="0">
            <a:noFill/>
            <a:prstDash val="solid"/>
          </a:ln>
        </p:spPr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5267" y="1981200"/>
            <a:ext cx="7450667" cy="4191000"/>
          </a:xfrm>
          <a:prstGeom prst="roundRect">
            <a:avLst>
              <a:gd name="adj" fmla="val 2727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3E848F-E13D-40CE-9471-717390A7AD5C}"/>
              </a:ext>
            </a:extLst>
          </p:cNvPr>
          <p:cNvSpPr>
            <a:spLocks noGrp="1"/>
          </p:cNvSpPr>
          <p:nvPr/>
        </p:nvSpPr>
        <p:spPr>
          <a:xfrm>
            <a:off x="9496425" y="2209800"/>
            <a:ext cx="180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0" b="1">
                <a:solidFill>
                  <a:srgbClr val="0B356A"/>
                </a:solidFill>
              </a:defRPr>
            </a:pPr>
            <a:r>
              <a:rPr sz="3750" b="1">
                <a:solidFill>
                  <a:srgbClr val="0B356A"/>
                </a:solidFill>
              </a:rPr>
              <a:t>57%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F5D613-12CB-4F51-94BA-FCBC391E03A2}"/>
              </a:ext>
            </a:extLst>
          </p:cNvPr>
          <p:cNvSpPr>
            <a:spLocks noGrp="1"/>
          </p:cNvSpPr>
          <p:nvPr/>
        </p:nvSpPr>
        <p:spPr>
          <a:xfrm>
            <a:off x="9496425" y="2781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79A92"/>
                </a:solidFill>
              </a:defRPr>
            </a:pPr>
            <a:r>
              <a:rPr sz="1350" b="1">
                <a:solidFill>
                  <a:srgbClr val="079A92"/>
                </a:solidFill>
              </a:rPr>
              <a:t>active progress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D9D3BA-4BD8-4DE8-9849-3BC9FEC57B5E}"/>
              </a:ext>
            </a:extLst>
          </p:cNvPr>
          <p:cNvSpPr>
            <a:spLocks noGrp="1"/>
          </p:cNvSpPr>
          <p:nvPr/>
        </p:nvSpPr>
        <p:spPr>
          <a:xfrm>
            <a:off x="9696450" y="3286125"/>
            <a:ext cx="1428750" cy="57150"/>
          </a:xfrm>
          <a:prstGeom prst="rect">
            <a:avLst/>
          </a:prstGeom>
          <a:solidFill>
            <a:srgbClr val="27C5BB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1C2D1E-4A3B-436E-A525-D3B6B05BAB0C}"/>
              </a:ext>
            </a:extLst>
          </p:cNvPr>
          <p:cNvSpPr>
            <a:spLocks noGrp="1"/>
          </p:cNvSpPr>
          <p:nvPr/>
        </p:nvSpPr>
        <p:spPr>
          <a:xfrm>
            <a:off x="9353550" y="36195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UX Research Agent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B595B7-1BF4-4FC3-9B6C-BEE4AA45F933}"/>
              </a:ext>
            </a:extLst>
          </p:cNvPr>
          <p:cNvSpPr>
            <a:spLocks noGrp="1"/>
          </p:cNvSpPr>
          <p:nvPr/>
        </p:nvSpPr>
        <p:spPr>
          <a:xfrm>
            <a:off x="10048875" y="3943350"/>
            <a:ext cx="70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79A92"/>
                </a:solidFill>
              </a:defRPr>
            </a:pPr>
            <a:r>
              <a:rPr sz="1800" b="1">
                <a:solidFill>
                  <a:srgbClr val="079A92"/>
                </a:solidFill>
              </a:rPr>
              <a:t>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03E05D-B0BB-4E4E-8FE7-02EC8102466D}"/>
              </a:ext>
            </a:extLst>
          </p:cNvPr>
          <p:cNvSpPr>
            <a:spLocks noGrp="1"/>
          </p:cNvSpPr>
          <p:nvPr/>
        </p:nvSpPr>
        <p:spPr>
          <a:xfrm>
            <a:off x="9315450" y="42862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Requirements Challenge Agent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D0F6ED-A904-456E-B855-F5559579C1F9}"/>
              </a:ext>
            </a:extLst>
          </p:cNvPr>
          <p:cNvSpPr>
            <a:spLocks noGrp="1"/>
          </p:cNvSpPr>
          <p:nvPr/>
        </p:nvSpPr>
        <p:spPr>
          <a:xfrm>
            <a:off x="9382125" y="51054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F7287"/>
                </a:solidFill>
              </a:defRPr>
            </a:pPr>
            <a:r>
              <a:rPr sz="1275" b="0">
                <a:solidFill>
                  <a:srgbClr val="5F7287"/>
                </a:solidFill>
              </a:rPr>
              <a:t>Current skill:</a:t>
            </a:r>
          </a:p>
          <a:p>
            <a:pPr algn="ctr">
              <a:defRPr sz="1275" b="0">
                <a:solidFill>
                  <a:srgbClr val="5F7287"/>
                </a:solidFill>
              </a:defRPr>
            </a:pPr>
            <a:r>
              <a:rPr sz="1275" b="0">
                <a:solidFill>
                  <a:srgbClr val="5F7287"/>
                </a:solidFill>
              </a:rPr>
              <a:t>debate-synthesis-skill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40CC30-846F-42DD-8B2E-20DD50BE133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790A8"/>
                </a:solidFill>
              </a:defRPr>
            </a:pPr>
            <a:r>
              <a:rPr sz="900" b="1">
                <a:solidFill>
                  <a:srgbClr val="7790A8"/>
                </a:solidFill>
              </a:rPr>
              <a:t>AI UX DESIGN PIPELINE  •  04</a:t>
            </a:r>
          </a:p>
        </p:txBody>
      </p:sp>
    </p:spTree>
    <p:extLst>
      <p:ext uri="{BB962C8B-B14F-4D97-AF65-F5344CB8AC3E}">
        <p14:creationId xmlns:p14="http://schemas.microsoft.com/office/powerpoint/2010/main" val="154617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DE097C5-3458-4AF4-9DE2-1995ADFADF7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79A92"/>
                </a:solidFill>
              </a:defRPr>
            </a:pPr>
            <a:r>
              <a:rPr sz="1125" b="1">
                <a:solidFill>
                  <a:srgbClr val="079A92"/>
                </a:solidFill>
              </a:rPr>
              <a:t>HUMAN GOVERNANCE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7B2ACC-9312-40E4-8F26-D7DBF022BBD8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No agent can approve its own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F752BD-8C24-4A32-9146-BD9A975C5E73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7287"/>
                </a:solidFill>
              </a:defRPr>
            </a:pPr>
            <a:r>
              <a:rPr sz="1350" b="0">
                <a:solidFill>
                  <a:srgbClr val="5F7287"/>
                </a:solidFill>
              </a:rPr>
              <a:t>D1–D4 require an explicit reviewer decision before the next phase becomes eligible.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5EA87A-E0EE-46DD-945A-197FE8F4651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876300" cy="47625"/>
          </a:xfrm>
          <a:prstGeom prst="rect">
            <a:avLst/>
          </a:prstGeom>
          <a:solidFill>
            <a:srgbClr val="27C5BB"/>
          </a:solidFill>
          <a:ln w="0">
            <a:noFill/>
            <a:prstDash val="solid"/>
          </a:ln>
        </p:spPr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7525" y="2000250"/>
            <a:ext cx="7518400" cy="4229100"/>
          </a:xfrm>
          <a:prstGeom prst="roundRect">
            <a:avLst>
              <a:gd name="adj" fmla="val 2703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AE9489-1E07-4F0F-A006-7FAA1FE7055B}"/>
              </a:ext>
            </a:extLst>
          </p:cNvPr>
          <p:cNvSpPr>
            <a:spLocks noGrp="1"/>
          </p:cNvSpPr>
          <p:nvPr/>
        </p:nvSpPr>
        <p:spPr>
          <a:xfrm>
            <a:off x="8572500" y="21526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6865C"/>
                </a:solidFill>
              </a:defRPr>
            </a:pPr>
            <a:r>
              <a:rPr sz="1725" b="1">
                <a:solidFill>
                  <a:srgbClr val="16865C"/>
                </a:solidFill>
              </a:rPr>
              <a:t>APPROVE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82C8AE-AA0E-4EFA-BF72-4EDF7AED85BC}"/>
              </a:ext>
            </a:extLst>
          </p:cNvPr>
          <p:cNvSpPr>
            <a:spLocks noGrp="1"/>
          </p:cNvSpPr>
          <p:nvPr/>
        </p:nvSpPr>
        <p:spPr>
          <a:xfrm>
            <a:off x="8572500" y="251460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287"/>
                </a:solidFill>
              </a:defRPr>
            </a:pPr>
            <a:r>
              <a:rPr sz="1275" b="0">
                <a:solidFill>
                  <a:srgbClr val="5F7287"/>
                </a:solidFill>
              </a:rPr>
              <a:t>Record the decision and advance exactly one phase.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4795D5-ACE5-4FC8-9339-90BCDA72C717}"/>
              </a:ext>
            </a:extLst>
          </p:cNvPr>
          <p:cNvSpPr>
            <a:spLocks noGrp="1"/>
          </p:cNvSpPr>
          <p:nvPr/>
        </p:nvSpPr>
        <p:spPr>
          <a:xfrm>
            <a:off x="8572500" y="3219450"/>
            <a:ext cx="2476500" cy="19050"/>
          </a:xfrm>
          <a:prstGeom prst="rect">
            <a:avLst/>
          </a:prstGeom>
          <a:solidFill>
            <a:srgbClr val="C7D9E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61510-9C1A-496F-A85B-541A944406D9}"/>
              </a:ext>
            </a:extLst>
          </p:cNvPr>
          <p:cNvSpPr>
            <a:spLocks noGrp="1"/>
          </p:cNvSpPr>
          <p:nvPr/>
        </p:nvSpPr>
        <p:spPr>
          <a:xfrm>
            <a:off x="8572500" y="34480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E5A400"/>
                </a:solidFill>
              </a:defRPr>
            </a:pPr>
            <a:r>
              <a:rPr sz="1725" b="1">
                <a:solidFill>
                  <a:srgbClr val="E5A400"/>
                </a:solidFill>
              </a:rPr>
              <a:t>REVISE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4D9556-6177-486F-B325-5B50EF46A061}"/>
              </a:ext>
            </a:extLst>
          </p:cNvPr>
          <p:cNvSpPr>
            <a:spLocks noGrp="1"/>
          </p:cNvSpPr>
          <p:nvPr/>
        </p:nvSpPr>
        <p:spPr>
          <a:xfrm>
            <a:off x="8572500" y="381000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287"/>
                </a:solidFill>
              </a:defRPr>
            </a:pPr>
            <a:r>
              <a:rPr sz="1275" b="0">
                <a:solidFill>
                  <a:srgbClr val="5F7287"/>
                </a:solidFill>
              </a:rPr>
              <a:t>Rerun only the minimum affected downstream work.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E579B5-0ED1-46CA-8397-4661D5F6DD76}"/>
              </a:ext>
            </a:extLst>
          </p:cNvPr>
          <p:cNvSpPr>
            <a:spLocks noGrp="1"/>
          </p:cNvSpPr>
          <p:nvPr/>
        </p:nvSpPr>
        <p:spPr>
          <a:xfrm>
            <a:off x="8572500" y="4514850"/>
            <a:ext cx="2476500" cy="19050"/>
          </a:xfrm>
          <a:prstGeom prst="rect">
            <a:avLst/>
          </a:prstGeom>
          <a:solidFill>
            <a:srgbClr val="C7D9EA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F0D5F5-9995-4D25-87E3-B96D41081017}"/>
              </a:ext>
            </a:extLst>
          </p:cNvPr>
          <p:cNvSpPr>
            <a:spLocks noGrp="1"/>
          </p:cNvSpPr>
          <p:nvPr/>
        </p:nvSpPr>
        <p:spPr>
          <a:xfrm>
            <a:off x="8572500" y="47434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B53B3B"/>
                </a:solidFill>
              </a:defRPr>
            </a:pPr>
            <a:r>
              <a:rPr sz="1725" b="1">
                <a:solidFill>
                  <a:srgbClr val="B53B3B"/>
                </a:solidFill>
              </a:rPr>
              <a:t>REJECT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AC629B-7B70-4781-8492-767C040D9946}"/>
              </a:ext>
            </a:extLst>
          </p:cNvPr>
          <p:cNvSpPr>
            <a:spLocks noGrp="1"/>
          </p:cNvSpPr>
          <p:nvPr/>
        </p:nvSpPr>
        <p:spPr>
          <a:xfrm>
            <a:off x="8572500" y="510540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287"/>
                </a:solidFill>
              </a:defRPr>
            </a:pPr>
            <a:r>
              <a:rPr sz="1275" b="0">
                <a:solidFill>
                  <a:srgbClr val="5F7287"/>
                </a:solidFill>
              </a:rPr>
              <a:t>Block the workflow; no automatic progression.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500CB1-CA11-4219-A6B3-DDB3B1679E0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790A8"/>
                </a:solidFill>
              </a:defRPr>
            </a:pPr>
            <a:r>
              <a:rPr sz="900" b="1">
                <a:solidFill>
                  <a:srgbClr val="7790A8"/>
                </a:solidFill>
              </a:rPr>
              <a:t>AI UX DESIGN PIPELINE  •  05</a:t>
            </a:r>
          </a:p>
        </p:txBody>
      </p:sp>
    </p:spTree>
    <p:extLst>
      <p:ext uri="{BB962C8B-B14F-4D97-AF65-F5344CB8AC3E}">
        <p14:creationId xmlns:p14="http://schemas.microsoft.com/office/powerpoint/2010/main" val="184774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B5265E1-EA1D-494E-9C46-4185C340FD2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79A92"/>
                </a:solidFill>
              </a:defRPr>
            </a:pPr>
            <a:r>
              <a:rPr sz="1125" b="1">
                <a:solidFill>
                  <a:srgbClr val="079A92"/>
                </a:solidFill>
              </a:rPr>
              <a:t>GOVERNED OUTCOME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160126-7455-41AF-B8AD-A06BB20FADE3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The prototype is ‘verified’ only after D4 approval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089DAC-2A6D-475C-9C73-F678124F1796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7287"/>
                </a:solidFill>
              </a:defRPr>
            </a:pPr>
            <a:r>
              <a:rPr sz="1350" b="0">
                <a:solidFill>
                  <a:srgbClr val="5F7287"/>
                </a:solidFill>
              </a:rPr>
              <a:t>The completion message retains the synthetic-validation and accessibility limitations.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FEEF94-5FFD-4331-8769-C856C815744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876300" cy="47625"/>
          </a:xfrm>
          <a:prstGeom prst="rect">
            <a:avLst/>
          </a:prstGeom>
          <a:solidFill>
            <a:srgbClr val="27C5BB"/>
          </a:solidFill>
          <a:ln w="0">
            <a:noFill/>
            <a:prstDash val="solid"/>
          </a:ln>
        </p:spPr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371" y="1981200"/>
            <a:ext cx="7535333" cy="4238625"/>
          </a:xfrm>
          <a:prstGeom prst="roundRect">
            <a:avLst>
              <a:gd name="adj" fmla="val 2697"/>
            </a:avLst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07212D-B7C7-4C02-88E8-232FF0564CAB}"/>
              </a:ext>
            </a:extLst>
          </p:cNvPr>
          <p:cNvSpPr>
            <a:spLocks noGrp="1"/>
          </p:cNvSpPr>
          <p:nvPr/>
        </p:nvSpPr>
        <p:spPr>
          <a:xfrm>
            <a:off x="8810625" y="2133600"/>
            <a:ext cx="2476500" cy="2000250"/>
          </a:xfrm>
          <a:prstGeom prst="roundRect">
            <a:avLst>
              <a:gd name="adj" fmla="val 5714"/>
            </a:avLst>
          </a:prstGeom>
          <a:solidFill>
            <a:srgbClr val="0B356A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ADC7B9-3FEF-4F93-BA5A-69441D2D5835}"/>
              </a:ext>
            </a:extLst>
          </p:cNvPr>
          <p:cNvSpPr>
            <a:spLocks noGrp="1"/>
          </p:cNvSpPr>
          <p:nvPr/>
        </p:nvSpPr>
        <p:spPr>
          <a:xfrm>
            <a:off x="9553575" y="232410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27C5BB"/>
                </a:solidFill>
              </a:defRPr>
            </a:pPr>
            <a:r>
              <a:rPr sz="3900" b="1">
                <a:solidFill>
                  <a:srgbClr val="27C5BB"/>
                </a:solidFill>
              </a:rPr>
              <a:t>✓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3A7257-6EB1-49CD-8287-FA80A2A22B6D}"/>
              </a:ext>
            </a:extLst>
          </p:cNvPr>
          <p:cNvSpPr>
            <a:spLocks noGrp="1"/>
          </p:cNvSpPr>
          <p:nvPr/>
        </p:nvSpPr>
        <p:spPr>
          <a:xfrm>
            <a:off x="9191625" y="30480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 phases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F0C033-65F7-4ED2-B452-731540E3BE6F}"/>
              </a:ext>
            </a:extLst>
          </p:cNvPr>
          <p:cNvSpPr>
            <a:spLocks noGrp="1"/>
          </p:cNvSpPr>
          <p:nvPr/>
        </p:nvSpPr>
        <p:spPr>
          <a:xfrm>
            <a:off x="9191625" y="34290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 human gates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D1C01C-AE6D-4013-8D1D-EA73F3103EB9}"/>
              </a:ext>
            </a:extLst>
          </p:cNvPr>
          <p:cNvSpPr>
            <a:spLocks noGrp="1"/>
          </p:cNvSpPr>
          <p:nvPr/>
        </p:nvSpPr>
        <p:spPr>
          <a:xfrm>
            <a:off x="9048750" y="38100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D7FFF8"/>
                </a:solidFill>
              </a:defRPr>
            </a:pPr>
            <a:r>
              <a:rPr sz="1650" b="1">
                <a:solidFill>
                  <a:srgbClr val="D7FFF8"/>
                </a:solidFill>
              </a:rPr>
              <a:t>1 verified prototype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ADFF80-2480-4E90-8485-8615DE7F34A3}"/>
              </a:ext>
            </a:extLst>
          </p:cNvPr>
          <p:cNvSpPr>
            <a:spLocks noGrp="1"/>
          </p:cNvSpPr>
          <p:nvPr/>
        </p:nvSpPr>
        <p:spPr>
          <a:xfrm>
            <a:off x="8877300" y="4533900"/>
            <a:ext cx="23431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F7287"/>
                </a:solidFill>
              </a:defRPr>
            </a:pPr>
            <a:r>
              <a:rPr sz="1275" b="0">
                <a:solidFill>
                  <a:srgbClr val="5F7287"/>
                </a:solidFill>
              </a:rPr>
              <a:t>Verification is scoped—not a claim of real-participant evidence or formal WCAG certification.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FA3A2-E848-4B03-B0A3-CCF83DAC2E4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790A8"/>
                </a:solidFill>
              </a:defRPr>
            </a:pPr>
            <a:r>
              <a:rPr sz="900" b="1">
                <a:solidFill>
                  <a:srgbClr val="7790A8"/>
                </a:solidFill>
              </a:rPr>
              <a:t>AI UX DESIGN PIPELINE  •  06</a:t>
            </a:r>
          </a:p>
        </p:txBody>
      </p:sp>
    </p:spTree>
    <p:extLst>
      <p:ext uri="{BB962C8B-B14F-4D97-AF65-F5344CB8AC3E}">
        <p14:creationId xmlns:p14="http://schemas.microsoft.com/office/powerpoint/2010/main" val="1383469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5C7FB27-FAD8-47E5-B948-CE39B3F87CE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79A92"/>
                </a:solidFill>
              </a:defRPr>
            </a:pPr>
            <a:r>
              <a:rPr sz="1125" b="1">
                <a:solidFill>
                  <a:srgbClr val="079A92"/>
                </a:solidFill>
              </a:rPr>
              <a:t>TRY IT NOW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42D4F8-45E0-4494-9DB4-4633DF85B9B0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A two-minute demo shows the full governed journey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1D4688-DAE2-4CC6-9BC3-74CEF1D50A30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7287"/>
                </a:solidFill>
              </a:defRPr>
            </a:pPr>
            <a:r>
              <a:rPr sz="1350" b="0">
                <a:solidFill>
                  <a:srgbClr val="5F7287"/>
                </a:solidFill>
              </a:rPr>
              <a:t>Start in Demo mode; switch to Live AI only with the configured password and API secret.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B1D865-008A-4368-9A62-61E95BFD171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876300" cy="47625"/>
          </a:xfrm>
          <a:prstGeom prst="rect">
            <a:avLst/>
          </a:prstGeom>
          <a:solidFill>
            <a:srgbClr val="27C5BB"/>
          </a:solidFill>
          <a:ln w="0">
            <a:noFill/>
            <a:prstDash val="solid"/>
          </a:ln>
        </p:spPr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86500" y="1924050"/>
            <a:ext cx="5334000" cy="3000375"/>
          </a:xfrm>
          <a:prstGeom prst="roundRect">
            <a:avLst>
              <a:gd name="adj" fmla="val 381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04643A-3795-44BA-BAD8-02FC9B72E534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79A92"/>
                </a:solidFill>
              </a:defRPr>
            </a:pPr>
            <a:r>
              <a:rPr sz="1500" b="1">
                <a:solidFill>
                  <a:srgbClr val="079A92"/>
                </a:solidFill>
              </a:rPr>
              <a:t>DEMO MODE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9ACBD8-9B68-4DA4-A2E8-F3C453128361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4572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1  Keep Live AI mode OFF</a:t>
            </a:r>
          </a:p>
          <a:p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2  Run each phase</a:t>
            </a:r>
          </a:p>
          <a:p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3  Review artifacts at D1–D4</a:t>
            </a:r>
          </a:p>
          <a:p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4  Explicitly APPROVE each gate</a:t>
            </a:r>
          </a:p>
          <a:p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5  Open the workable prototype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F1E152-92C9-4DFE-91A0-FD21C62F1EF4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356A"/>
                </a:solidFill>
              </a:defRPr>
            </a:pPr>
            <a:r>
              <a:rPr sz="1500" b="1">
                <a:solidFill>
                  <a:srgbClr val="0B356A"/>
                </a:solidFill>
              </a:rPr>
              <a:t>LIVE AI MODE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3FB677-4034-4A01-8CC4-6F45D77FFDFD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F7287"/>
                </a:solidFill>
              </a:defRPr>
            </a:pPr>
            <a:r>
              <a:rPr sz="1350" b="0">
                <a:solidFill>
                  <a:srgbClr val="5F7287"/>
                </a:solidFill>
              </a:rPr>
              <a:t>Switch Live AI ON → enter the access password → use configured Gemini credentials.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EE3E2B-F193-46F2-B6B5-C181267ACEE6}"/>
              </a:ext>
            </a:extLst>
          </p:cNvPr>
          <p:cNvSpPr>
            <a:spLocks noGrp="1"/>
          </p:cNvSpPr>
          <p:nvPr/>
        </p:nvSpPr>
        <p:spPr>
          <a:xfrm>
            <a:off x="6286500" y="5219700"/>
            <a:ext cx="5334000" cy="685800"/>
          </a:xfrm>
          <a:prstGeom prst="roundRect">
            <a:avLst>
              <a:gd name="adj" fmla="val 16667"/>
            </a:avLst>
          </a:prstGeom>
          <a:solidFill>
            <a:srgbClr val="0B356A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C8B0B-837A-4CB1-A2B1-B17A476E93DB}"/>
              </a:ext>
            </a:extLst>
          </p:cNvPr>
          <p:cNvSpPr>
            <a:spLocks noGrp="1"/>
          </p:cNvSpPr>
          <p:nvPr/>
        </p:nvSpPr>
        <p:spPr>
          <a:xfrm>
            <a:off x="6515100" y="5410200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https://ai-ux-design-pipeline.streamlit.app/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67923A-338E-49EC-82C3-406485D604D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790A8"/>
                </a:solidFill>
              </a:defRPr>
            </a:pPr>
            <a:r>
              <a:rPr sz="900" b="1">
                <a:solidFill>
                  <a:srgbClr val="7790A8"/>
                </a:solidFill>
              </a:rPr>
              <a:t>AI UX DESIGN PIPELINE  •  07</a:t>
            </a:r>
          </a:p>
        </p:txBody>
      </p:sp>
    </p:spTree>
    <p:extLst>
      <p:ext uri="{BB962C8B-B14F-4D97-AF65-F5344CB8AC3E}">
        <p14:creationId xmlns:p14="http://schemas.microsoft.com/office/powerpoint/2010/main" val="17061518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</Words>
  <Application>Microsoft Office PowerPoint</Application>
  <DocSecurity>0</DocSecurity>
  <PresentationFormat>Widescreen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Karthikeyan S</cp:lastModifiedBy>
  <cp:revision>1</cp:revision>
  <dcterms:created xsi:type="dcterms:W3CDTF">2026-08-08T16:46:13Z</dcterms:created>
  <dcterms:modified xsi:type="dcterms:W3CDTF">2026-08-09T06:30:23Z</dcterms:modified>
</cp:coreProperties>
</file>