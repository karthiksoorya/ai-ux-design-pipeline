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e57138c72401c" /><Relationship Type="http://schemas.openxmlformats.org/officeDocument/2006/relationships/extended-properties" Target="/docProps/app.xml" Id="R82cd6ac58fd843c8" /><Relationship Type="http://schemas.openxmlformats.org/officeDocument/2006/relationships/officeDocument" Target="/ppt/presentation.xml" Id="R37b1459feef9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8024649e5c4298"/>
  </p:sldMasterIdLst>
  <p:notesMasterIdLst>
    <p:notesMasterId xmlns:r="http://schemas.openxmlformats.org/officeDocument/2006/relationships" r:id="R0d7ab1fb5e2a4db0"/>
  </p:notesMasterIdLst>
  <p:sldIdLst>
    <p:sldId xmlns:r="http://schemas.openxmlformats.org/officeDocument/2006/relationships" id="256" r:id="R4048318cb5ac469d"/>
    <p:sldId xmlns:r="http://schemas.openxmlformats.org/officeDocument/2006/relationships" id="257" r:id="R8a82b9887d0f4427"/>
    <p:sldId xmlns:r="http://schemas.openxmlformats.org/officeDocument/2006/relationships" id="258" r:id="R28e9d911275f4182"/>
    <p:sldId xmlns:r="http://schemas.openxmlformats.org/officeDocument/2006/relationships" id="259" r:id="R4a57688b085741fb"/>
    <p:sldId xmlns:r="http://schemas.openxmlformats.org/officeDocument/2006/relationships" id="260" r:id="R5ad05d1bea8440bd"/>
    <p:sldId xmlns:r="http://schemas.openxmlformats.org/officeDocument/2006/relationships" id="261" r:id="Ra252fcf879fb4874"/>
    <p:sldId xmlns:r="http://schemas.openxmlformats.org/officeDocument/2006/relationships" id="262" r:id="R85f9a8adc2f04f75"/>
    <p:sldId xmlns:r="http://schemas.openxmlformats.org/officeDocument/2006/relationships" id="263" r:id="Rd331cc71ccee4462"/>
    <p:sldId xmlns:r="http://schemas.openxmlformats.org/officeDocument/2006/relationships" id="264" r:id="R84a0334686c94f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8b85078738409a" /><Relationship Type="http://schemas.openxmlformats.org/officeDocument/2006/relationships/slideMaster" Target="/ppt/slideMasters/slideMaster1.xml" Id="Rda8024649e5c4298" /><Relationship Type="http://schemas.openxmlformats.org/officeDocument/2006/relationships/notesMaster" Target="/ppt/notesMasters/notesMaster1.xml" Id="R0d7ab1fb5e2a4db0" /><Relationship Type="http://schemas.openxmlformats.org/officeDocument/2006/relationships/presProps" Target="/ppt/presProps.xml" Id="Raae9e284a79a47b2" /><Relationship Type="http://schemas.openxmlformats.org/officeDocument/2006/relationships/tableStyles" Target="/ppt/tableStyles.xml" Id="Rc1742253746d4163" /><Relationship Type="http://schemas.openxmlformats.org/officeDocument/2006/relationships/slide" Target="/ppt/slides/slide1.xml" Id="R4048318cb5ac469d" /><Relationship Type="http://schemas.openxmlformats.org/officeDocument/2006/relationships/slide" Target="/ppt/slides/slide2.xml" Id="R8a82b9887d0f4427" /><Relationship Type="http://schemas.openxmlformats.org/officeDocument/2006/relationships/slide" Target="/ppt/slides/slide3.xml" Id="R28e9d911275f4182" /><Relationship Type="http://schemas.openxmlformats.org/officeDocument/2006/relationships/slide" Target="/ppt/slides/slide4.xml" Id="R4a57688b085741fb" /><Relationship Type="http://schemas.openxmlformats.org/officeDocument/2006/relationships/slide" Target="/ppt/slides/slide5.xml" Id="R5ad05d1bea8440bd" /><Relationship Type="http://schemas.openxmlformats.org/officeDocument/2006/relationships/slide" Target="/ppt/slides/slide6.xml" Id="Ra252fcf879fb4874" /><Relationship Type="http://schemas.openxmlformats.org/officeDocument/2006/relationships/slide" Target="/ppt/slides/slide7.xml" Id="R85f9a8adc2f04f75" /><Relationship Type="http://schemas.openxmlformats.org/officeDocument/2006/relationships/slide" Target="/ppt/slides/slide8.xml" Id="Rd331cc71ccee4462" /><Relationship Type="http://schemas.openxmlformats.org/officeDocument/2006/relationships/slide" Target="/ppt/slides/slide9.xml" Id="R84a0334686c9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0f68cf3014f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11d7a43fd4293" /><Relationship Type="http://schemas.openxmlformats.org/officeDocument/2006/relationships/notesMaster" Target="/ppt/notesMasters/notesMaster1.xml" Id="R3d3f2afecf30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99212a35ec46be" /><Relationship Type="http://schemas.openxmlformats.org/officeDocument/2006/relationships/notesMaster" Target="/ppt/notesMasters/notesMaster1.xml" Id="R713179f439a240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b7394758ef48fb" /><Relationship Type="http://schemas.openxmlformats.org/officeDocument/2006/relationships/notesMaster" Target="/ppt/notesMasters/notesMaster1.xml" Id="R463ea25daf42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490ae56cbc4dbd" /><Relationship Type="http://schemas.openxmlformats.org/officeDocument/2006/relationships/notesMaster" Target="/ppt/notesMasters/notesMaster1.xml" Id="R30e7143898f6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4535d93bc4fdb" /><Relationship Type="http://schemas.openxmlformats.org/officeDocument/2006/relationships/notesMaster" Target="/ppt/notesMasters/notesMaster1.xml" Id="R3a0651fd9b0242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e8aeb1c0e24373" /><Relationship Type="http://schemas.openxmlformats.org/officeDocument/2006/relationships/notesMaster" Target="/ppt/notesMasters/notesMaster1.xml" Id="Rae67585a3eb64f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a2f379c8e462a" /><Relationship Type="http://schemas.openxmlformats.org/officeDocument/2006/relationships/notesMaster" Target="/ppt/notesMasters/notesMaster1.xml" Id="R2d21e52ec802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ff3c543a44ef1" /><Relationship Type="http://schemas.openxmlformats.org/officeDocument/2006/relationships/notesMaster" Target="/ppt/notesMasters/notesMaster1.xml" Id="R4cd52d70553842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69d1d797b246b1" /><Relationship Type="http://schemas.openxmlformats.org/officeDocument/2006/relationships/notesMaster" Target="/ppt/notesMasters/notesMaster1.xml" Id="R94176943eda143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2ba8fa94e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1cbda39797431a" /><Relationship Type="http://schemas.openxmlformats.org/officeDocument/2006/relationships/slideLayout" Target="/ppt/slideLayouts/slideLayout1.xml" Id="R85c0c5012fdd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c0c5012fdd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f80a520634025" /><Relationship Type="http://schemas.openxmlformats.org/officeDocument/2006/relationships/notesSlide" Target="/ppt/notesSlides/notesSlide1.xml" Id="R476772af02ba41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a1afe5df74a7a" /><Relationship Type="http://schemas.openxmlformats.org/officeDocument/2006/relationships/notesSlide" Target="/ppt/notesSlides/notesSlide2.xml" Id="R96f211a75b0e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46a0cd7af486a" /><Relationship Type="http://schemas.openxmlformats.org/officeDocument/2006/relationships/notesSlide" Target="/ppt/notesSlides/notesSlide3.xml" Id="R11fbde2a36bc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490a9f73c4f00" /><Relationship Type="http://schemas.openxmlformats.org/officeDocument/2006/relationships/notesSlide" Target="/ppt/notesSlides/notesSlide4.xml" Id="Raf50e053334d4f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42dc9b9d446cf" /><Relationship Type="http://schemas.openxmlformats.org/officeDocument/2006/relationships/notesSlide" Target="/ppt/notesSlides/notesSlide5.xml" Id="R8a3a554f56044e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551846f674954" /><Relationship Type="http://schemas.openxmlformats.org/officeDocument/2006/relationships/notesSlide" Target="/ppt/notesSlides/notesSlide6.xml" Id="Rbb5eb023127d4b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0cf8cff9c437f" /><Relationship Type="http://schemas.openxmlformats.org/officeDocument/2006/relationships/notesSlide" Target="/ppt/notesSlides/notesSlide7.xml" Id="Ra995800853e34b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c8d46391429f" /><Relationship Type="http://schemas.openxmlformats.org/officeDocument/2006/relationships/notesSlide" Target="/ppt/notesSlides/notesSlide8.xml" Id="R013da7d9b20e44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af76485b448d5" /><Relationship Type="http://schemas.openxmlformats.org/officeDocument/2006/relationships/notesSlide" Target="/ppt/notesSlides/notesSlide9.xml" Id="Rd01b7fcd9ef04b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6E3E7-DCC5-4D64-93B1-10D57297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B56F3-53AD-490C-9986-FE2281F5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C7BC"/>
                </a:solidFill>
              </a:defRPr>
            </a:pPr>
            <a:r>
              <a:rPr sz="1275" b="1">
                <a:solidFill>
                  <a:srgbClr val="29C7BC"/>
                </a:solidFill>
              </a:rPr>
              <a:t>AI 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2E5DC-D399-4AA9-AB9F-3D4BE45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66750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Specialized Agent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Workflow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C12AD-6307-4A1C-9D7F-6CA9D637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477000" cy="933450"/>
          </a:xfrm>
          <a:prstGeom xmlns:a="http://schemas.openxmlformats.org/drawingml/2006/main" prst="roundRect">
            <a:avLst>
              <a:gd name="adj" fmla="val 122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9F8"/>
                </a:solidFill>
              </a:defRPr>
            </a:pPr>
            <a:r>
              <a:rPr sz="1800" b="0">
                <a:solidFill>
                  <a:srgbClr val="D8E9F8"/>
                </a:solidFill>
              </a:rPr>
              <a:t>What each agent receives, which skills it invokes, what those skills do, and how evidence moves safely to the next phase.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5AB16-B3F1-409B-9712-116B072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00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CE888-D221-4C33-8DD1-C5CFEC40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81125"/>
            <a:ext cx="1524000" cy="904875"/>
          </a:xfrm>
          <a:prstGeom xmlns:a="http://schemas.openxmlformats.org/drawingml/2006/main" prst="roundRect">
            <a:avLst>
              <a:gd name="adj" fmla="val 1263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084D3-0218-4464-8257-88D08FDA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specialized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89883-1E9B-46B0-9F33-049B58D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240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D8FFF9"/>
                </a:solidFill>
              </a:defRPr>
            </a:pPr>
            <a:r>
              <a:rPr sz="4500" b="1">
                <a:solidFill>
                  <a:srgbClr val="D8FFF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E8D27-36D4-47E2-9DFF-DD7FC2A1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57675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reusable UX skills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2F1D0-4318-4BAB-9131-E35D7D8B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715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C7BC"/>
                </a:solidFill>
              </a:defRPr>
            </a:pPr>
            <a:r>
              <a:rPr sz="1500" b="1">
                <a:solidFill>
                  <a:srgbClr val="29C7BC"/>
                </a:solidFill>
              </a:rPr>
              <a:t>Human governed · evidence traceable</a:t>
            </a:r>
          </a:p>
        </p:txBody>
      </p:sp>
    </p:spTree>
    <p:extLst>
      <p:ext uri="{BB962C8B-B14F-4D97-AF65-F5344CB8AC3E}">
        <p14:creationId xmlns:p14="http://schemas.microsoft.com/office/powerpoint/2010/main" val="1436225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6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092211-1531-4743-ABD8-CC798F29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THE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83DAD-B012-447A-BE5D-02FA084F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One orchestrator routes five specialists through four human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954D9-C449-4003-A523-EC6A5694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The agents do the UX work. The orchestrator controls order and state. Humans control advancement.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ABB1B-BA57-440D-8AC6-27E76266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9E6B0-F32C-40CC-B134-109CDF24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99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C7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E432E-F8AF-4B60-9DDA-05A6214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099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C7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A7995-BFC6-4553-A7F7-424F56C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C7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557E4-1BAC-4D09-927C-252041D3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C7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26D68-24F0-45B4-BEBD-BAE35BF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00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9A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F4CB6-E800-4483-97E7-D76FAA83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95650"/>
            <a:ext cx="4381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D1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24514-56B5-4BB0-88A7-C6138928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00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9A9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531AF-2797-4E27-ABB0-2370F1D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95650"/>
            <a:ext cx="4381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D2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49542-2541-469B-9593-94D88679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9A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341CC-3C9C-4282-8F17-88364041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4381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D3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C04D9-D008-4AD5-AA1B-4E7E273D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9A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DA1B9-37EA-4C77-B6D9-DDDEE6E4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4381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D4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08B53-7773-4D56-8022-6989143A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638300" cy="17145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C2909-57D5-4F28-A5DB-915BC6B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76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A8051-29FA-4F45-B58E-9A39C7FF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13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2AE6B-72D5-4B90-AE8C-2FD172F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3335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Discover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47626-CAEB-4A72-9B6A-9322FBCA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58A"/>
                </a:solidFill>
              </a:defRPr>
            </a:pPr>
            <a:r>
              <a:rPr sz="1050" b="0">
                <a:solidFill>
                  <a:srgbClr val="61758A"/>
                </a:solidFill>
              </a:rPr>
              <a:t>UX Research +</a:t>
            </a:r>
          </a:p>
          <a:p xmlns:a="http://schemas.openxmlformats.org/drawingml/2006/main">
            <a:pPr algn="l">
              <a:defRPr sz="1050" b="0">
                <a:solidFill>
                  <a:srgbClr val="61758A"/>
                </a:solidFill>
              </a:defRPr>
            </a:pPr>
            <a:r>
              <a:rPr sz="1050" b="0">
                <a:solidFill>
                  <a:srgbClr val="61758A"/>
                </a:solidFill>
              </a:rPr>
              <a:t>Requirements Challenge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CA59C-F12F-49CD-9DF9-57B3AB42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1638300" cy="17145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5BE76-A6A4-4353-9A28-B43B12A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76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76D46-55E6-40C6-B55E-2668BCC1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813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704C1-FD53-4627-818A-04E83B1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13335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Define &amp; Ideate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202DBC-A113-4FEA-9142-8B8E27CC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0050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58A"/>
                </a:solidFill>
              </a:defRPr>
            </a:pPr>
            <a:r>
              <a:rPr sz="1050" b="0">
                <a:solidFill>
                  <a:srgbClr val="61758A"/>
                </a:solidFill>
              </a:rPr>
              <a:t>UX Definition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EF885-287B-4FF7-9720-46AA9EC7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1638300" cy="17145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10B7AF-7AF3-49A7-95DB-2E555A5F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76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431DD-1168-42FC-9739-14DC9377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813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A5CF1-D31C-4E29-A19C-8781251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3335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Design &amp; Prototype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DA5CF-7916-4EBD-944D-044FCCB6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58A"/>
                </a:solidFill>
              </a:defRPr>
            </a:pPr>
            <a:r>
              <a:rPr sz="1050" b="0">
                <a:solidFill>
                  <a:srgbClr val="61758A"/>
                </a:solidFill>
              </a:rPr>
              <a:t>Experience Design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46FF5-457E-4218-A6CD-F599521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1638300" cy="17145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AFF76-07B9-43BD-8AE2-F0B20D6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76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1CA7A-3C49-48D7-8EEE-30EC7CAC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813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E8DABC-4C04-4B1A-ADA8-EB16018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13335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Validate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B551EA-A719-41D9-97D5-F7FC614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58A"/>
                </a:solidFill>
              </a:defRPr>
            </a:pPr>
            <a:r>
              <a:rPr sz="1050" b="0">
                <a:solidFill>
                  <a:srgbClr val="61758A"/>
                </a:solidFill>
              </a:rPr>
              <a:t>UX Validation &amp;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69ECFB-21CF-47FA-AA35-DE68CFE3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1638300" cy="17145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E200C5-B374-4EC5-B044-3FFA8D58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6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47BC7B-038C-47A4-B55B-CAF28341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813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D388B-FA5C-4FAB-8C92-84F8A67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3335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C56CF2-87F8-47B0-892A-2D7B24B6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FFFB"/>
                </a:solidFill>
              </a:defRPr>
            </a:pPr>
            <a:r>
              <a:rPr sz="1050" b="0">
                <a:solidFill>
                  <a:srgbClr val="E3FFFB"/>
                </a:solidFill>
              </a:rPr>
              <a:t>Human D4 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7290AF-449C-4527-ABF4-28197564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70B405-66FD-45B7-A683-DF167906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C7BC"/>
                </a:solidFill>
              </a:defRPr>
            </a:pPr>
            <a:r>
              <a:rPr sz="1200" b="1">
                <a:solidFill>
                  <a:srgbClr val="29C7BC"/>
                </a:solidFill>
              </a:rPr>
              <a:t>ORCHESTRATOR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2C9170-61A2-4894-95F6-5658C4CC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10150"/>
            <a:ext cx="64770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Reads state → dispatches eligible agent → validates required artifacts → stops at the next gate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4B37EA-35D9-4072-861F-90A803A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62600"/>
            <a:ext cx="647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7F7"/>
                </a:solidFill>
              </a:defRPr>
            </a:pPr>
            <a:r>
              <a:rPr sz="1200" b="0">
                <a:solidFill>
                  <a:srgbClr val="D6E7F7"/>
                </a:solidFill>
              </a:rPr>
              <a:t>It never authors phase outputs and never approves D1–D4.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D0BE9A-D469-456A-BB07-B14CCAF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02</a:t>
            </a:r>
          </a:p>
        </p:txBody>
      </p:sp>
    </p:spTree>
    <p:extLst>
      <p:ext uri="{BB962C8B-B14F-4D97-AF65-F5344CB8AC3E}">
        <p14:creationId xmlns:p14="http://schemas.microsoft.com/office/powerpoint/2010/main" val="1468914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C4682-803E-40E9-8D9F-24DD5D4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AGENT 1 · DISCOVER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C3DBC-396C-48F9-8F70-EF557332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UX Research Agent builds a trustworthy evidence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88840-EF95-4E36-95FE-CECC0B2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It organizes what is known, what is uncertain, and what still requires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A6498-56B4-46C2-9CFC-448DDE3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AA280-A16A-4B0E-A9F2-77DD3C83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874F8-EB51-4A8E-B063-F951D8A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53AF0-1712-43D4-90D0-702FC339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381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9A92"/>
                </a:solidFill>
              </a:defRPr>
            </a:pPr>
            <a:r>
              <a:rPr sz="1275" b="1">
                <a:solidFill>
                  <a:srgbClr val="079A92"/>
                </a:solidFill>
              </a:rPr>
              <a:t>Evidence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3EC45-A4D5-492C-B3B8-C84A34EF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495300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BRD, research notes, surveys, analytics, support tickets, stakeholder and design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4D0B4-ADA9-4F57-B1C3-31008BE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0C1C2-1F5E-4CF8-B04F-A6B329D4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626F5-57D1-44D1-9A0C-180552F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Source &amp; Evidence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B01F0-23FE-4909-A9B2-B7DF6E09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4327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Inventories every input, classifies source type, confidence, gaps and contradictions.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00593-5A58-42D5-B839-1F459ACC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294F7-DA3A-4A09-8DF4-787A443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83A2E-6AD1-4F66-BC22-18B744DA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Persona Synthesis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ABB62-2493-4B07-B536-4AED454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243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Creates only evidence-supported personas—or fewer/limited proto-personas when evidence is weak.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5EFF0-2CA5-4B5C-81AE-C8A3DFE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F62FE-4018-4FAD-B748-A4B645EC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11D0B-5353-440B-8027-8DA3CD4B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Pain-Point Extraction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3CD5A-CB38-480E-9738-0B80C8E2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0537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Finds traceable barriers and frustrations without converting opportunities into requirements.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E5DF7-07D8-4013-8573-BDB2D887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362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DD617-9B26-4EBE-80EA-8E28B0B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OUTPUT &amp; HANDOFF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persona.md · pain-points.md · research-gaps.md → D1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FFCCF-6ED9-458F-B525-D27D17D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4362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AA85F-278E-4707-964E-FE1ACF1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14750"/>
            <a:ext cx="3810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GUARDRAIL — Never invent demographics, quotations, motivations, behaviours or research findings.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B7104-3CFE-4175-AA01-F1BBED0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362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F8FB1-25A6-49C1-824B-1D0E37F7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38100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WHY IT MATTERS — It prevents downstream design decisions from being built on attractive but unsupported user stories.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CD2A4-D3C2-43C2-886E-8299D8D3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03</a:t>
            </a:r>
          </a:p>
        </p:txBody>
      </p:sp>
    </p:spTree>
    <p:extLst>
      <p:ext uri="{BB962C8B-B14F-4D97-AF65-F5344CB8AC3E}">
        <p14:creationId xmlns:p14="http://schemas.microsoft.com/office/powerpoint/2010/main" val="426182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6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2F80E-C3A1-49ED-8CFF-941CD84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AGENT 2 · DISCOVER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6687F-FBA7-4B81-8D52-B28A302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Requirements Challenge Agent makes the BRD argue with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A41AF-A3E2-48B3-8DF0-CD73A0E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It runs before personas so unsupported business assumptions cannot quietly become user 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0FECB-4ADD-4EDF-8771-A202F2B3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A4B01-E2DD-4A1E-92A1-25539D7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C7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94271-82F5-453F-91ED-F2D1011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C7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AFB37-C13C-4D47-A62A-1F5A18A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781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BA2BA-CF5F-4F6C-93CB-EDA3373D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316EC-B3DB-4C17-80EB-44A82D74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5CC19-2AB1-4213-9E25-43EF6E96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622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Readable BRD + source 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00C67-9738-4D5F-8264-AAB2A10A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7"/>
                </a:solidFill>
              </a:defRPr>
            </a:pPr>
            <a:r>
              <a:rPr sz="1275" b="0">
                <a:solidFill>
                  <a:srgbClr val="D7E8F7"/>
                </a:solidFill>
              </a:rPr>
              <a:t>Goals · scope · actors · workflows · constraints ·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A352E-73A4-4A62-BB57-4DA018F8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1790700" cy="2000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5A73A-B563-4E3D-908C-CE46C852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62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92364-FE64-4527-8970-039C7463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6697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84BFC-F928-45E3-9D8D-60058044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13716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Requirements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Challenge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8975B-7998-4F23-B64F-476B121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3429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480B9-F1D1-4B6C-A731-9FD1EDA0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952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FFF8"/>
                </a:solidFill>
              </a:defRPr>
            </a:pPr>
            <a:r>
              <a:rPr sz="1200" b="1">
                <a:solidFill>
                  <a:srgbClr val="D7FFF8"/>
                </a:solidFill>
              </a:rPr>
              <a:t>TRACEABLE BRD RISK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50E25-7C5B-44CC-9074-B4BA2DB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Strengths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Challenged assumptions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Missing requirements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Edge cases &amp; contradictions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9CA9D-C3E8-48A7-9692-2BF8C392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6672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3D42"/>
                </a:solidFill>
              </a:defRPr>
            </a:pPr>
            <a:r>
              <a:rPr sz="1800" b="1">
                <a:solidFill>
                  <a:srgbClr val="B63D42"/>
                </a:solidFill>
              </a:rPr>
              <a:t>The agent does not invent the missing answer.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B2A27-687A-48D6-9B24-EA00FD4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 missing specification becomes a question, research gap, risk hypothesis or D1 decision—not a fabricated requirement.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12BF5-06A9-4ECC-AE1B-A6EE4A26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9660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2A601-07C8-4F52-9E35-B08AD4AF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1047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Classification + confidence + source locator are required for every substantive finding.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C4DDF-97A9-4047-AF38-F64783AA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04</a:t>
            </a:r>
          </a:p>
        </p:txBody>
      </p:sp>
    </p:spTree>
    <p:extLst>
      <p:ext uri="{BB962C8B-B14F-4D97-AF65-F5344CB8AC3E}">
        <p14:creationId xmlns:p14="http://schemas.microsoft.com/office/powerpoint/2010/main" val="773327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7237B-8BBC-40A7-9846-E847972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INSIDE THE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4F4C7-71AC-403F-8F5E-565A981E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Advocate, Cynic and Debate Synthesis have distinct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4A8A6-1511-42A1-AB3E-6DDAE37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The goal is a balanced evidence review—not a winner and loser.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0F9A2-87A7-4C72-A519-BC0A8448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F7801-A891-4FE1-BCAF-CB3666B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24200" cy="32194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75C17-C298-47F3-BC95-70A3437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66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ADVOCATE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0C138-2190-4ADE-BFC7-C122D2C2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667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What is genuinely supported?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4ED1F-D9D5-4958-90BB-E394EB39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3492E-A0CE-4811-BB9D-92351AA8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66700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Stated goals and scope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Explicit BRD needs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Supported happy paths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Clear requirements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Risks already handled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FBF5F-4AB8-4A6D-B962-DF650476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124200" cy="32194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7E0"/>
          </a:solidFill>
          <a:ln xmlns:a="http://schemas.openxmlformats.org/drawingml/2006/main" w="9525">
            <a:solidFill>
              <a:srgbClr val="E6A3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F85F8-122C-4FB9-BA27-DF67E96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266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A300"/>
                </a:solidFill>
              </a:defRPr>
            </a:pPr>
            <a:r>
              <a:rPr sz="1275" b="1">
                <a:solidFill>
                  <a:srgbClr val="E6A300"/>
                </a:solidFill>
              </a:rPr>
              <a:t>CYNIC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9EC4D-0E02-4B7E-9C56-3A8096D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667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What could fail or be missing?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D8D51-4F9F-4F5A-B4CA-9FA20C2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623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873D2-BE82-44D5-B93D-BB98038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266700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Rushed-user friction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Failure and recovery states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Accessibility risks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Potential trust risks</a:t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Ambiguity and contradiction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356A5-8F47-4D57-A8F1-DA31A1A4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124200" cy="32194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53D3B-9B18-4D9B-B125-09DD19BB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6670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DEBATE SYNTHESIS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FAD04-8F9A-42D9-BAF7-CE9501B0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2667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What should happen next?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03500-1290-4AEE-80B2-BDD58222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623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49EFB-12A6-40FE-8776-A6AF2344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2667000" cy="1476375"/>
          </a:xfrm>
          <a:prstGeom xmlns:a="http://schemas.openxmlformats.org/drawingml/2006/main" prst="roundRect">
            <a:avLst>
              <a:gd name="adj" fmla="val 77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Compares both analyses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Preserves contradictions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Classifies each finding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Adds confidence + source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Recommends actions/decisions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A7923-069B-49C5-B289-82393F97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143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56A"/>
                </a:solidFill>
              </a:defRPr>
            </a:pPr>
            <a:r>
              <a:rPr sz="1200" b="1">
                <a:solidFill>
                  <a:srgbClr val="0B356A"/>
                </a:solidFill>
              </a:rPr>
              <a:t>Advocate does not defend assumptions.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D17A1-D1BB-4DA9-A51E-EFCF3022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19750"/>
            <a:ext cx="3143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300"/>
                </a:solidFill>
              </a:defRPr>
            </a:pPr>
            <a:r>
              <a:rPr sz="1200" b="1">
                <a:solidFill>
                  <a:srgbClr val="E6A300"/>
                </a:solidFill>
              </a:rPr>
              <a:t>Cynic does not make accusations.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3A1D0-6537-455F-8A51-1C2E584B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7147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9A92"/>
                </a:solidFill>
              </a:defRPr>
            </a:pPr>
            <a:r>
              <a:rPr sz="1200" b="1">
                <a:solidFill>
                  <a:srgbClr val="079A92"/>
                </a:solidFill>
              </a:rPr>
              <a:t>Synthesis does not turn risk into research.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AC6FD-A11E-4717-87D0-DFDC7E1F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7442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623AD-4A95-4BCD-9D0F-8262ACA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4775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FACT · BRD STATEMENT · INFERENCE · ASSUMPTION · RISK HYPOTHESIS    |    HIGH · MEDIUM · LOW · CONTRADICTORY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B0DAC-C6E7-4102-90F0-F5D3D55E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05</a:t>
            </a:r>
          </a:p>
        </p:txBody>
      </p:sp>
    </p:spTree>
    <p:extLst>
      <p:ext uri="{BB962C8B-B14F-4D97-AF65-F5344CB8AC3E}">
        <p14:creationId xmlns:p14="http://schemas.microsoft.com/office/powerpoint/2010/main" val="217725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6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4B2492-4894-4B56-A39A-D6794874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AGENT 3 · DEFINE &amp; IDEATE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5CD05-C326-4D41-9B48-9299664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UX Definition Agent converts evidence into a deliberate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E6375-866A-4F93-8F49-99734DE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It expands the solution space before recommending one concept for human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075AA-34EC-41A2-9A26-276A5117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3A208-903B-41FC-BAA8-41BAF8DB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FAA0A-9D16-4050-9D93-F74652D2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C8EE7-109B-4E4C-91A1-6FD1FE68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571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9A92"/>
                </a:solidFill>
              </a:defRPr>
            </a:pPr>
            <a:r>
              <a:rPr sz="1275" b="1">
                <a:solidFill>
                  <a:srgbClr val="079A92"/>
                </a:solidFill>
              </a:rPr>
              <a:t>Approved discovery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57DB8-89D6-4954-88F5-44CA2B8D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BRD risk review, personas, pain points, research gaps and supporting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B9AA-7878-4ED1-B14E-5303911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B7734-F2FB-4F58-9694-31B8021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0EDC5-F225-43CD-9574-680359F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718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Problem Framing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4F9F6-24F8-4D9A-B8EB-2140365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480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Defines user, context, evidence, impact, uncertainty and business relationship.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2F766-061E-424F-B994-0226960F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F4FA8-C340-4E6B-94F5-698EEF66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41177-0E37-4BAA-A14A-F019D06D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Journey Mapping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41F1D-6622-41C4-AAA5-D4A12590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957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Maps stages and breakdowns; labels unsupported stages as hypothetical.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BC245-CB20-4DB1-8CF1-A9E7600A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592FD-9762-40F9-8276-3F34CA61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B425F-8778-48EC-85D7-69A746F1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Opportunity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6B145-71D7-4107-BCDA-AD1298EC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434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Ranks candidate design spaces using evidence, user value, business relevance and uncertainty.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6271F-5576-44EA-858A-BB3233F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A3CFB-60F0-4023-8118-D1CC7F8D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A4FAF-8AA3-4206-A713-9ED75FF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149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Concept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EE484-DD86-48B0-B75E-862E8E9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911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Creates meaningfully different options instead of jumping to the first feature idea.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C5720-AB69-4B50-B71B-EA21C768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6119E-48FC-4AFB-8F42-9989B43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B12C1-51C3-4A2B-8C0E-C6D6E688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Concept 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E1386-5B27-4F58-8E97-D8FFC70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388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Uses common criteria to recommend a direction while preserving alternatives and risks.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B87D5-202C-4712-912F-946A8FE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362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5B257-5360-4941-B0D7-883A1640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OUTPUT &amp; HANDOFF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problem · journey · opportunities · concept options · selected concept → D2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1B318-961E-43BA-A2E0-78F4CF0C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4362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F612B-9636-4DA7-8307-ACF5DD7D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14750"/>
            <a:ext cx="3810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GUARDRAIL — An opportunity is not a requirement, and a recommendation is not usability proof.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60B07-C0AB-4168-B590-941D6F65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362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271B97-AC77-444E-BBBD-F703EB1E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38100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WHY IT MATTERS — It converts discovery into an explainable decision rather than an unexplained solution jump.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EA0CFE-894B-4AD0-839E-6CCEC2EB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06</a:t>
            </a:r>
          </a:p>
        </p:txBody>
      </p:sp>
    </p:spTree>
    <p:extLst>
      <p:ext uri="{BB962C8B-B14F-4D97-AF65-F5344CB8AC3E}">
        <p14:creationId xmlns:p14="http://schemas.microsoft.com/office/powerpoint/2010/main" val="1082641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522787-C76B-45B4-A7FD-FB836D7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AGENT 4 · DESIGN &amp;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4B36F-0012-45C0-8824-83778EE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Experience Design Agent turns direction into testable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359E3-5F65-4070-999C-0C40BFB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It specifies the experience before claiming anything about its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D0261-3B74-4D36-AD8C-34BB1A74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A4E17-CE6F-4474-8364-E59BADEF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6EC76-03AF-4891-997F-58ED94D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70255-2F58-4AE1-8E83-EE62DC1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9A92"/>
                </a:solidFill>
              </a:defRPr>
            </a:pPr>
            <a:r>
              <a:rPr sz="1275" b="1">
                <a:solidFill>
                  <a:srgbClr val="079A92"/>
                </a:solidFill>
              </a:rPr>
              <a:t>D2-approved direction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289CE-48B0-40AB-9F67-5CA30EA6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Problem, journey, opportunities, selected concept and project constraints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63FEE-E739-4B37-95A0-FF02ED9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CB155-EE93-4704-9E4E-27F5F8B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F939D-4489-4325-BC50-518C5F79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718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User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A3708-CB56-4FD7-A99D-753B2FF0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480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Maps user/system steps, decisions, alternatives, errors, recovery and exit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76891-87AF-4747-B6C3-500041F3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E5435-5B19-4B50-8DF9-46CA02ED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2F671-8465-491D-A8F7-77A22A9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Information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C27EC-E1CF-4ECF-95AC-2D32BEDC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957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Defines hierarchy, labels and navigation when the concept genuinely needs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2568F-59C9-4386-8893-77033F4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A9882-38BD-4C1C-AA83-7FF1E825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3A2B3-CA35-4427-9E1A-B01D3C0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Screen Specification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A9CA0-0A53-471E-9DE7-89699D5F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434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Defines each screen’s purpose, content, actions, validation and traceability.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60925-F44A-43CB-AFB6-9870170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194BC-20D5-4919-8371-FF4536D2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ABFF9-3BF8-4859-A6E2-9B2D37C5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149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Interaction States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B6FB9-70BC-4D0A-A09A-4DE9B917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911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Covers loading, empty, error, timeout, cancellation, permission and recovery states.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62F22-260D-40C8-8C60-B2A22F7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22418-23E9-469C-A5BA-001A5B4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18C17-A875-4A22-B5C4-98D8B351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300037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Prototype Generation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380BF-8C39-442B-84DC-CC3FC53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38825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58A"/>
                </a:solidFill>
              </a:defRPr>
            </a:pPr>
            <a:r>
              <a:rPr sz="1200" b="0">
                <a:solidFill>
                  <a:srgbClr val="61758A"/>
                </a:solidFill>
              </a:rPr>
              <a:t>Builds a prototype contract—and a runnable demo when the runtime is available.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B5377-3A78-41B3-B64E-B172AB1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362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099CA-9379-426E-8BC7-7DD23A85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OUTPUT &amp; HANDOFF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user-flow.md · screen-spec.md · interaction-states.md · prototype-spec.md → D3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72F5FF-F0DF-4539-A433-09296B61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4362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0F469-26CD-4747-A849-0138F75C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14750"/>
            <a:ext cx="3810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GUARDRAIL — Do not invent business rules, backend capabilities or unsupported product features.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AD6DC1-2548-46B6-B92B-08E6D662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362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C8F19-7C26-41F1-AA63-968F770C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38100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WHY IT MATTERS — It turns strategy into an inspectable experience with explicit non-happy paths—not just polished screens.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AE663-0E1D-4C4A-8103-9CFC0BAC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07</a:t>
            </a:r>
          </a:p>
        </p:txBody>
      </p:sp>
    </p:spTree>
    <p:extLst>
      <p:ext uri="{BB962C8B-B14F-4D97-AF65-F5344CB8AC3E}">
        <p14:creationId xmlns:p14="http://schemas.microsoft.com/office/powerpoint/2010/main" val="96939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6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DCC533-72A0-4594-BF7D-E6F6BACF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9A92"/>
                </a:solidFill>
              </a:defRPr>
            </a:pPr>
            <a:r>
              <a:rPr sz="1050" b="1">
                <a:solidFill>
                  <a:srgbClr val="079A92"/>
                </a:solidFill>
              </a:rPr>
              <a:t>AGENT 5 ·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30FF5-C01D-48EC-8ED4-D1BCAE43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Validation Agent challenges the prototype without overclaiming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F72FA-3952-42A5-A344-5DABD392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58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58A"/>
                </a:solidFill>
              </a:defRPr>
            </a:pPr>
            <a:r>
              <a:rPr sz="1350" b="0">
                <a:solidFill>
                  <a:srgbClr val="61758A"/>
                </a:solidFill>
              </a:rPr>
              <a:t>Its findings are synthetic and heuristic until real research or formal testing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55B25-5127-42A1-A8EB-69C58A2A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7F863-FD2F-4078-84D4-07581F39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9207A-74B6-4AC7-B737-11B109CB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524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07416-E8CE-4DB9-96CF-F695E90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857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9A92"/>
                </a:solidFill>
              </a:defRPr>
            </a:pPr>
            <a:r>
              <a:rPr sz="1275" b="1">
                <a:solidFill>
                  <a:srgbClr val="079A92"/>
                </a:solidFill>
              </a:rPr>
              <a:t>D3-approved design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5E0B4-78E1-432F-9DD6-A7AEE95D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Persona, concept, flow, screens, interaction states, prototype and original requirements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98876-0383-4C92-85F3-9E71933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FFBBB-FC61-45AD-8695-5ED534FF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91820-3145-4362-97AA-1196810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86075"/>
            <a:ext cx="300037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Synthetic Usability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C34E2-8DE9-409A-AD6C-E09FD6C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58A"/>
                </a:solidFill>
              </a:defRPr>
            </a:pPr>
            <a:r>
              <a:rPr sz="1125" b="0">
                <a:solidFill>
                  <a:srgbClr val="61758A"/>
                </a:solidFill>
              </a:rPr>
              <a:t>Simulates tasks; never claims real participants.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E5653-7218-417E-BF47-DA624E36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F7FF0-01A0-474C-BE31-F73D8386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207C6-B3C8-40A7-8C31-B34052FC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19475"/>
            <a:ext cx="300037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Cognitive Friction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19D9B-25BF-4545-BE10-C344467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58A"/>
                </a:solidFill>
              </a:defRPr>
            </a:pPr>
            <a:r>
              <a:rPr sz="1125" b="0">
                <a:solidFill>
                  <a:srgbClr val="61758A"/>
                </a:solidFill>
              </a:rPr>
              <a:t>Assesses decisions and recovery with a transparent heuristic.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B9FDD-FE62-426C-87B7-CE4390B0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47EAB-BC06-4EE5-8E59-DB4E3E5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1E631-8768-4FA9-8283-AFA6F336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52875"/>
            <a:ext cx="300037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Accessibility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090DC-BEDC-40B4-89EB-8601B33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58A"/>
                </a:solidFill>
              </a:defRPr>
            </a:pPr>
            <a:r>
              <a:rPr sz="1125" b="0">
                <a:solidFill>
                  <a:srgbClr val="61758A"/>
                </a:solidFill>
              </a:rPr>
              <a:t>Flags evidence-bounded risks; avoids unsupported WCAG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7C70F-972E-438D-A109-8926278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CE46D-0C70-4F18-AB59-008F094B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C2103-89D2-4FE0-A6FA-F0EF94E0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86275"/>
            <a:ext cx="300037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Design-System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10176-C91B-4DE7-B745-F346AFD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58A"/>
                </a:solidFill>
              </a:defRPr>
            </a:pPr>
            <a:r>
              <a:rPr sz="1125" b="0">
                <a:solidFill>
                  <a:srgbClr val="61758A"/>
                </a:solidFill>
              </a:rPr>
              <a:t>Checks supplied system evidence—or reports NOT AVAILABLE.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8920C-E6FE-4FE2-9F82-784183D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F8787-42D8-4862-9860-F998954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98FC5-B5DF-4954-9165-F66EADE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9675"/>
            <a:ext cx="300037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Requirement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B3861-B744-40E0-8880-9A2DA0A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58A"/>
                </a:solidFill>
              </a:defRPr>
            </a:pPr>
            <a:r>
              <a:rPr sz="1125" b="0">
                <a:solidFill>
                  <a:srgbClr val="61758A"/>
                </a:solidFill>
              </a:rPr>
              <a:t>Traces requirements through definition, design and prototype.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9CC3E3-8C48-442C-AC07-74A3E7EC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E3FF6-4E3D-4B79-ACA1-A0E2BD8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3619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2F028-921A-4948-AC87-6D0D77F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53075"/>
            <a:ext cx="300037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Edge-Case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5914D7-11D1-4365-AF24-B7413A3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912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58A"/>
                </a:solidFill>
              </a:defRPr>
            </a:pPr>
            <a:r>
              <a:rPr sz="1125" b="0">
                <a:solidFill>
                  <a:srgbClr val="61758A"/>
                </a:solidFill>
              </a:rPr>
              <a:t>Rechecks Phase 1 risks against designed failure states.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FD449-E983-4897-A883-A15A581F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3624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B3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6C950-79D9-4A85-93C6-DA09C1E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OUTPUT &amp; HANDOFF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validation report · issues · coverage · accessibility audit → D4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87953A-2A68-4D12-9C21-7B8EF19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4362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B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48A49B-29C4-40DE-8901-045B63F8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14750"/>
            <a:ext cx="3810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GUARDRAIL — Synthetic walkthroughs are not empirical usability evidence; D4 alone can verify the prototype.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0CD71F-B754-4191-A04E-52DAECF6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362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023CEE-35D0-47EA-AC33-8398B6CF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38100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WHY IT MATTERS — It closes the loop from BRD risk to designed behavior and exposes what remains unresolved.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4ABA18-517E-48E0-9459-54F9491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238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90A5"/>
                </a:solidFill>
              </a:defRPr>
            </a:pPr>
            <a:r>
              <a:rPr sz="900" b="1">
                <a:solidFill>
                  <a:srgbClr val="7890A5"/>
                </a:solidFill>
              </a:rPr>
              <a:t>AI UX AGENT WORKFLOW GUIDE  •  08</a:t>
            </a:r>
          </a:p>
        </p:txBody>
      </p:sp>
    </p:spTree>
    <p:extLst>
      <p:ext uri="{BB962C8B-B14F-4D97-AF65-F5344CB8AC3E}">
        <p14:creationId xmlns:p14="http://schemas.microsoft.com/office/powerpoint/2010/main" val="93941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3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76E45-55AF-44BB-9160-3C91059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619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C7BC"/>
                </a:solidFill>
              </a:defRPr>
            </a:pPr>
            <a:r>
              <a:rPr sz="1125" b="1">
                <a:solidFill>
                  <a:srgbClr val="29C7BC"/>
                </a:solidFill>
              </a:rPr>
              <a:t>THE GOVERNED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93BED-0B8B-481B-95C4-8650C082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143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Every agent narrows uncertainty—none can erase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92A27-4318-45B6-A9D8-2EFF4CFD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8F7"/>
                </a:solidFill>
              </a:defRPr>
            </a:pPr>
            <a:r>
              <a:rPr sz="1500" b="0">
                <a:solidFill>
                  <a:srgbClr val="D8E8F7"/>
                </a:solidFill>
              </a:rPr>
              <a:t>Artifacts carry evidence, assumptions, contradictions and validation needs forward. Human gates decide whether the work is ready to advance.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E7600-E0DA-4ACB-B428-39965EA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9525">
            <a:solidFill>
              <a:srgbClr val="3C6D9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FEE30-5189-469E-937E-1F9832CE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5524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43B20-151B-4BB0-B934-E1726D08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76475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C7BC"/>
                </a:solidFill>
              </a:defRPr>
            </a:pPr>
            <a:r>
              <a:rPr sz="1575" b="1">
                <a:solidFill>
                  <a:srgbClr val="29C7BC"/>
                </a:solidFill>
              </a:rPr>
              <a:t>Research &amp;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4E1F9-0993-4057-AB34-066D6C25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81275"/>
            <a:ext cx="8096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Are evidence, personas, pain points and BRD challenges traceable?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EE8CA-44F1-406E-B7B8-1B2C5BD4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90775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D4EE"/>
                </a:solidFill>
              </a:defRPr>
            </a:pPr>
            <a:r>
              <a:rPr sz="1050" b="1">
                <a:solidFill>
                  <a:srgbClr val="B7D4EE"/>
                </a:solidFill>
              </a:rPr>
              <a:t>ADVANCE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1FD27-26EE-48B0-BEDD-83DFC66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9525">
            <a:solidFill>
              <a:srgbClr val="3C6D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3DE87-EAE6-4DC1-BD97-FAE1B1D6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5524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C469D-E6B1-4E76-963D-0C7321D2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52775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C7BC"/>
                </a:solidFill>
              </a:defRPr>
            </a:pPr>
            <a:r>
              <a:rPr sz="1575" b="1">
                <a:solidFill>
                  <a:srgbClr val="29C7BC"/>
                </a:solidFill>
              </a:rPr>
              <a:t>Definition &amp;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59D67-54F8-4266-BC20-657A0984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57575"/>
            <a:ext cx="8096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Is the problem framed and is the concept choice justified?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E430E-8696-42D4-93ED-7DD3341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67075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D4EE"/>
                </a:solidFill>
              </a:defRPr>
            </a:pPr>
            <a:r>
              <a:rPr sz="1050" b="1">
                <a:solidFill>
                  <a:srgbClr val="B7D4EE"/>
                </a:solidFill>
              </a:rPr>
              <a:t>ADVANCE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FDA5F-3FFC-4C6F-A4BD-E6D8B1EE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E"/>
          </a:solidFill>
          <a:ln xmlns:a="http://schemas.openxmlformats.org/drawingml/2006/main" w="9525">
            <a:solidFill>
              <a:srgbClr val="3C6D9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6ACF2-0342-40CC-9453-4CE08FE1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5524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30E23-A47C-421E-9C25-C7823C6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29075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C7BC"/>
                </a:solidFill>
              </a:defRPr>
            </a:pPr>
            <a:r>
              <a:rPr sz="1575" b="1">
                <a:solidFill>
                  <a:srgbClr val="29C7BC"/>
                </a:solidFill>
              </a:rPr>
              <a:t>Design &amp;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51901-B95E-4C01-AFA1-FE5F0311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8096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Is the flow complete and the prototype ready for validation?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22655-6BF2-4A6F-8B40-745200E8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D4EE"/>
                </a:solidFill>
              </a:defRPr>
            </a:pPr>
            <a:r>
              <a:rPr sz="1050" b="1">
                <a:solidFill>
                  <a:srgbClr val="B7D4EE"/>
                </a:solidFill>
              </a:rPr>
              <a:t>ADVANCE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C6DE4-4017-4006-84C7-D7A135B0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A92"/>
          </a:solidFill>
          <a:ln xmlns:a="http://schemas.openxmlformats.org/drawingml/2006/main" w="9525">
            <a:solidFill>
              <a:srgbClr val="3C6D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E0E75-4FF3-435D-8DDD-C200E4E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5524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D3F97-F2E9-402C-9AD4-3639509C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05375"/>
            <a:ext cx="2857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C7BC"/>
                </a:solidFill>
              </a:defRPr>
            </a:pPr>
            <a:r>
              <a:rPr sz="1575" b="1">
                <a:solidFill>
                  <a:srgbClr val="29C7BC"/>
                </a:solidFill>
              </a:rPr>
              <a:t>Final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7320B-3F56-47DE-A432-F36249F1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0175"/>
            <a:ext cx="8096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Are issues understood and can the prototype be called verified within limits?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D9B22-0E14-4526-A521-698179AC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FFF9"/>
                </a:solidFill>
              </a:defRPr>
            </a:pPr>
            <a:r>
              <a:rPr sz="1050" b="1">
                <a:solidFill>
                  <a:srgbClr val="D8FFF9"/>
                </a:solidFill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4DF2B-72BC-45F7-9108-E96A183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7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50BC8-E633-4D30-8962-CE9A370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3346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 advances · REVISE reruns minimum affected work · REJECT blocks</a:t>
            </a:r>
          </a:p>
        </p:txBody>
      </p:sp>
    </p:spTree>
    <p:extLst>
      <p:ext uri="{BB962C8B-B14F-4D97-AF65-F5344CB8AC3E}">
        <p14:creationId xmlns:p14="http://schemas.microsoft.com/office/powerpoint/2010/main" val="1788424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2026-08-09T05:13:51.3300000Z</dcterms:created>
  <dcterms:modified xsi:type="dcterms:W3CDTF">2026-08-09T05:13:51.3300000Z</dcterms:modified>
</coreProperties>
</file>